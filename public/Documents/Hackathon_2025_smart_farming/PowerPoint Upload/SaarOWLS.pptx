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ublic Sans Bold" charset="1" panose="00000000000000000000"/>
      <p:regular r:id="rId15"/>
    </p:embeddedFont>
    <p:embeddedFont>
      <p:font typeface="Playfair Display" charset="1" panose="00000500000000000000"/>
      <p:regular r:id="rId16"/>
    </p:embeddedFont>
    <p:embeddedFont>
      <p:font typeface="Public Sans" charset="1" panose="00000000000000000000"/>
      <p:regular r:id="rId17"/>
    </p:embeddedFont>
    <p:embeddedFont>
      <p:font typeface="Playfair Display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18.fntdata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font" Target="fonts/font17.fntdata"/><Relationship Id="rId7" Type="http://schemas.openxmlformats.org/officeDocument/2006/relationships/slide" Target="slides/slide2.xml"/><Relationship Id="rId16" Type="http://schemas.openxmlformats.org/officeDocument/2006/relationships/font" Target="fonts/font16.fntdata"/><Relationship Id="rId2" Type="http://schemas.openxmlformats.org/officeDocument/2006/relationships/presProps" Target="pres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font" Target="fonts/font15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1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USE CASE:03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82" y="3120799"/>
            <a:ext cx="13442621" cy="202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1"/>
              </a:lnSpc>
            </a:pPr>
            <a:r>
              <a:rPr lang="en-US" sz="5704" spc="2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MicroWeather Marketplace: Turning Local Weather Data into Shared Value </a:t>
            </a:r>
          </a:p>
          <a:p>
            <a:pPr algn="l">
              <a:lnSpc>
                <a:spcPts val="519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06882" y="7517130"/>
            <a:ext cx="7862435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VIGNESH SRIRAM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SAI RAM MAKKAPATI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MALIK ALI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HAIDER AWAN</a:t>
            </a:r>
          </a:p>
          <a:p>
            <a:pPr algn="l">
              <a:lnSpc>
                <a:spcPts val="345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846658" y="9456043"/>
            <a:ext cx="4918437" cy="7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b="true" sz="2986" spc="14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FARMING HACKATHON-2025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6" y="9277350"/>
            <a:ext cx="454826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Universität des Saarlandes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528" y="4019031"/>
            <a:ext cx="7659879" cy="5026795"/>
          </a:xfrm>
          <a:custGeom>
            <a:avLst/>
            <a:gdLst/>
            <a:ahLst/>
            <a:cxnLst/>
            <a:rect r="r" b="b" t="t" l="l"/>
            <a:pathLst>
              <a:path h="5026795" w="7659879">
                <a:moveTo>
                  <a:pt x="0" y="0"/>
                </a:moveTo>
                <a:lnTo>
                  <a:pt x="7659879" y="0"/>
                </a:lnTo>
                <a:lnTo>
                  <a:pt x="7659879" y="5026796"/>
                </a:lnTo>
                <a:lnTo>
                  <a:pt x="0" y="5026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66151" y="3843965"/>
            <a:ext cx="3116065" cy="5576410"/>
          </a:xfrm>
          <a:custGeom>
            <a:avLst/>
            <a:gdLst/>
            <a:ahLst/>
            <a:cxnLst/>
            <a:rect r="r" b="b" t="t" l="l"/>
            <a:pathLst>
              <a:path h="5576410" w="3116065">
                <a:moveTo>
                  <a:pt x="0" y="0"/>
                </a:moveTo>
                <a:lnTo>
                  <a:pt x="3116065" y="0"/>
                </a:lnTo>
                <a:lnTo>
                  <a:pt x="3116065" y="5576410"/>
                </a:lnTo>
                <a:lnTo>
                  <a:pt x="0" y="5576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174" r="0" b="-1217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4622" y="267614"/>
            <a:ext cx="3606625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21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157177" y="10005948"/>
            <a:ext cx="7075735" cy="24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2000" spc="10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FARMING HACKATHON-2025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4622" y="1642629"/>
            <a:ext cx="16484908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Farms, insurers, and corporates need precise local weather data.</a:t>
            </a:r>
          </a:p>
          <a:p>
            <a:pPr algn="l">
              <a:lnSpc>
                <a:spcPts val="3919"/>
              </a:lnSpc>
            </a:pP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any private stations stay disconnected and unused instead of being shared and monetized.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57853" y="9856978"/>
            <a:ext cx="1230147" cy="3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3199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6684" y="3886048"/>
            <a:ext cx="9473753" cy="5269775"/>
          </a:xfrm>
          <a:custGeom>
            <a:avLst/>
            <a:gdLst/>
            <a:ahLst/>
            <a:cxnLst/>
            <a:rect r="r" b="b" t="t" l="l"/>
            <a:pathLst>
              <a:path h="5269775" w="9473753">
                <a:moveTo>
                  <a:pt x="0" y="0"/>
                </a:moveTo>
                <a:lnTo>
                  <a:pt x="9473753" y="0"/>
                </a:lnTo>
                <a:lnTo>
                  <a:pt x="9473753" y="5269775"/>
                </a:lnTo>
                <a:lnTo>
                  <a:pt x="0" y="526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45028" y="3886048"/>
            <a:ext cx="9513839" cy="5269775"/>
          </a:xfrm>
          <a:custGeom>
            <a:avLst/>
            <a:gdLst/>
            <a:ahLst/>
            <a:cxnLst/>
            <a:rect r="r" b="b" t="t" l="l"/>
            <a:pathLst>
              <a:path h="5269775" w="9513839">
                <a:moveTo>
                  <a:pt x="0" y="0"/>
                </a:moveTo>
                <a:lnTo>
                  <a:pt x="9513839" y="0"/>
                </a:lnTo>
                <a:lnTo>
                  <a:pt x="9513839" y="5269775"/>
                </a:lnTo>
                <a:lnTo>
                  <a:pt x="0" y="5269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4622" y="267614"/>
            <a:ext cx="4701617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 spc="21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4622" y="1642629"/>
            <a:ext cx="18023378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Farmers/ organization who maintain weather stations 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can monetize by sharing hyper-local data.</a:t>
            </a:r>
          </a:p>
          <a:p>
            <a:pPr algn="l">
              <a:lnSpc>
                <a:spcPts val="3919"/>
              </a:lnSpc>
            </a:pP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mpanies gain access to precise, region-specific weather insights for better planning, modeling, and risk management.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57853" y="9856978"/>
            <a:ext cx="1230147" cy="3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3199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157177" y="10005948"/>
            <a:ext cx="7075735" cy="24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2000" spc="10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FARMING HACKATHON-2025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9281" y="3800193"/>
            <a:ext cx="2869108" cy="5291726"/>
          </a:xfrm>
          <a:custGeom>
            <a:avLst/>
            <a:gdLst/>
            <a:ahLst/>
            <a:cxnLst/>
            <a:rect r="r" b="b" t="t" l="l"/>
            <a:pathLst>
              <a:path h="5291726" w="2869108">
                <a:moveTo>
                  <a:pt x="0" y="0"/>
                </a:moveTo>
                <a:lnTo>
                  <a:pt x="2869107" y="0"/>
                </a:lnTo>
                <a:lnTo>
                  <a:pt x="2869107" y="5291725"/>
                </a:lnTo>
                <a:lnTo>
                  <a:pt x="0" y="529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6362" y="3800193"/>
            <a:ext cx="9952315" cy="5489324"/>
          </a:xfrm>
          <a:custGeom>
            <a:avLst/>
            <a:gdLst/>
            <a:ahLst/>
            <a:cxnLst/>
            <a:rect r="r" b="b" t="t" l="l"/>
            <a:pathLst>
              <a:path h="5489324" w="9952315">
                <a:moveTo>
                  <a:pt x="0" y="0"/>
                </a:moveTo>
                <a:lnTo>
                  <a:pt x="9952315" y="0"/>
                </a:lnTo>
                <a:lnTo>
                  <a:pt x="9952315" y="5489323"/>
                </a:lnTo>
                <a:lnTo>
                  <a:pt x="0" y="5489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943" y="356455"/>
            <a:ext cx="5185680" cy="6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4198" spc="20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HOW IT WORKS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4622" y="1642629"/>
            <a:ext cx="1663968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Our platform bridges the gap between sellers and buyers of weather station data.</a:t>
            </a:r>
          </a:p>
          <a:p>
            <a:pPr algn="l">
              <a:lnSpc>
                <a:spcPts val="3919"/>
              </a:lnSpc>
            </a:pP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It also helps the farmers to easily register their private weather stations by scanning a QR-code.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57853" y="9856978"/>
            <a:ext cx="1230147" cy="3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3199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157177" y="10005948"/>
            <a:ext cx="7075735" cy="24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2000" spc="10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FARMING HACKATHON-2025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100" y="1689397"/>
            <a:ext cx="8404200" cy="4655139"/>
          </a:xfrm>
          <a:custGeom>
            <a:avLst/>
            <a:gdLst/>
            <a:ahLst/>
            <a:cxnLst/>
            <a:rect r="r" b="b" t="t" l="l"/>
            <a:pathLst>
              <a:path h="4655139" w="8404200">
                <a:moveTo>
                  <a:pt x="0" y="0"/>
                </a:moveTo>
                <a:lnTo>
                  <a:pt x="8404199" y="0"/>
                </a:lnTo>
                <a:lnTo>
                  <a:pt x="8404199" y="4655139"/>
                </a:lnTo>
                <a:lnTo>
                  <a:pt x="0" y="4655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24499" y="5022631"/>
            <a:ext cx="8572972" cy="4748623"/>
          </a:xfrm>
          <a:custGeom>
            <a:avLst/>
            <a:gdLst/>
            <a:ahLst/>
            <a:cxnLst/>
            <a:rect r="r" b="b" t="t" l="l"/>
            <a:pathLst>
              <a:path h="4748623" w="8572972">
                <a:moveTo>
                  <a:pt x="0" y="0"/>
                </a:moveTo>
                <a:lnTo>
                  <a:pt x="8572972" y="0"/>
                </a:lnTo>
                <a:lnTo>
                  <a:pt x="8572972" y="4748622"/>
                </a:lnTo>
                <a:lnTo>
                  <a:pt x="0" y="4748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375" y="356455"/>
            <a:ext cx="8687650" cy="6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4198" spc="20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PLATFORM FEATURES (SELLER)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57853" y="9856978"/>
            <a:ext cx="1230147" cy="3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3199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02503" y="2732352"/>
            <a:ext cx="6018657" cy="676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931" indent="-313465" lvl="1">
              <a:lnSpc>
                <a:spcPts val="2642"/>
              </a:lnSpc>
              <a:buFont typeface="Arial"/>
              <a:buChar char="•"/>
            </a:pPr>
            <a:r>
              <a:rPr lang="en-US" sz="2903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Will receive micropayments for sharing the data via Stripe.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157177" y="10005948"/>
            <a:ext cx="7075735" cy="24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2000" spc="10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FARMING HACKATHON-2025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375" y="1719044"/>
            <a:ext cx="8502831" cy="4709771"/>
          </a:xfrm>
          <a:custGeom>
            <a:avLst/>
            <a:gdLst/>
            <a:ahLst/>
            <a:cxnLst/>
            <a:rect r="r" b="b" t="t" l="l"/>
            <a:pathLst>
              <a:path h="4709771" w="8502831">
                <a:moveTo>
                  <a:pt x="0" y="0"/>
                </a:moveTo>
                <a:lnTo>
                  <a:pt x="8502831" y="0"/>
                </a:lnTo>
                <a:lnTo>
                  <a:pt x="8502831" y="4709771"/>
                </a:lnTo>
                <a:lnTo>
                  <a:pt x="0" y="4709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19044"/>
            <a:ext cx="8502831" cy="4709771"/>
          </a:xfrm>
          <a:custGeom>
            <a:avLst/>
            <a:gdLst/>
            <a:ahLst/>
            <a:cxnLst/>
            <a:rect r="r" b="b" t="t" l="l"/>
            <a:pathLst>
              <a:path h="4709771" w="8502831">
                <a:moveTo>
                  <a:pt x="0" y="0"/>
                </a:moveTo>
                <a:lnTo>
                  <a:pt x="8502831" y="0"/>
                </a:lnTo>
                <a:lnTo>
                  <a:pt x="8502831" y="4709771"/>
                </a:lnTo>
                <a:lnTo>
                  <a:pt x="0" y="4709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56475" y="5412675"/>
            <a:ext cx="8251702" cy="4570669"/>
          </a:xfrm>
          <a:custGeom>
            <a:avLst/>
            <a:gdLst/>
            <a:ahLst/>
            <a:cxnLst/>
            <a:rect r="r" b="b" t="t" l="l"/>
            <a:pathLst>
              <a:path h="4570669" w="8251702">
                <a:moveTo>
                  <a:pt x="0" y="0"/>
                </a:moveTo>
                <a:lnTo>
                  <a:pt x="8251702" y="0"/>
                </a:lnTo>
                <a:lnTo>
                  <a:pt x="8251702" y="4570669"/>
                </a:lnTo>
                <a:lnTo>
                  <a:pt x="0" y="4570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8375" y="356455"/>
            <a:ext cx="8687650" cy="6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4198" spc="20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PLATFORM FEATURES (BUYER)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57853" y="9856978"/>
            <a:ext cx="1230147" cy="3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3199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9808" y="7482947"/>
            <a:ext cx="5600672" cy="63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391" indent="-291696" lvl="1">
              <a:lnSpc>
                <a:spcPts val="2458"/>
              </a:lnSpc>
              <a:buFont typeface="Arial"/>
              <a:buChar char="•"/>
            </a:pPr>
            <a:r>
              <a:rPr lang="en-US" sz="2702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More precise data for better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157177" y="10005948"/>
            <a:ext cx="7075735" cy="24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2000" spc="10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FARMING HACKATHON-2025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1892" y="1400828"/>
            <a:ext cx="7670769" cy="4248887"/>
          </a:xfrm>
          <a:custGeom>
            <a:avLst/>
            <a:gdLst/>
            <a:ahLst/>
            <a:cxnLst/>
            <a:rect r="r" b="b" t="t" l="l"/>
            <a:pathLst>
              <a:path h="4248887" w="7670769">
                <a:moveTo>
                  <a:pt x="0" y="0"/>
                </a:moveTo>
                <a:lnTo>
                  <a:pt x="7670769" y="0"/>
                </a:lnTo>
                <a:lnTo>
                  <a:pt x="7670769" y="4248887"/>
                </a:lnTo>
                <a:lnTo>
                  <a:pt x="0" y="4248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68589" y="4714754"/>
            <a:ext cx="9890711" cy="4543546"/>
          </a:xfrm>
          <a:custGeom>
            <a:avLst/>
            <a:gdLst/>
            <a:ahLst/>
            <a:cxnLst/>
            <a:rect r="r" b="b" t="t" l="l"/>
            <a:pathLst>
              <a:path h="4543546" w="9890711">
                <a:moveTo>
                  <a:pt x="0" y="0"/>
                </a:moveTo>
                <a:lnTo>
                  <a:pt x="9890711" y="0"/>
                </a:lnTo>
                <a:lnTo>
                  <a:pt x="9890711" y="4543546"/>
                </a:lnTo>
                <a:lnTo>
                  <a:pt x="0" y="45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375" y="356455"/>
            <a:ext cx="8687650" cy="6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4198" spc="20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57853" y="9856978"/>
            <a:ext cx="1230147" cy="3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3199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6537" y="2602892"/>
            <a:ext cx="5829951" cy="6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274" indent="-303637" lvl="1">
              <a:lnSpc>
                <a:spcPts val="2559"/>
              </a:lnSpc>
              <a:buFont typeface="Arial"/>
              <a:buChar char="•"/>
            </a:pPr>
            <a:r>
              <a:rPr lang="en-US" sz="2812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Maintained data is used for better forecasting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157177" y="10005948"/>
            <a:ext cx="7075735" cy="24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2000" spc="10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FARMING HACKATHON-2025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81529" y="4304769"/>
            <a:ext cx="10778415" cy="5072592"/>
          </a:xfrm>
          <a:custGeom>
            <a:avLst/>
            <a:gdLst/>
            <a:ahLst/>
            <a:cxnLst/>
            <a:rect r="r" b="b" t="t" l="l"/>
            <a:pathLst>
              <a:path h="5072592" w="10778415">
                <a:moveTo>
                  <a:pt x="0" y="0"/>
                </a:moveTo>
                <a:lnTo>
                  <a:pt x="10778416" y="0"/>
                </a:lnTo>
                <a:lnTo>
                  <a:pt x="10778416" y="5072592"/>
                </a:lnTo>
                <a:lnTo>
                  <a:pt x="0" y="5072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375" y="356455"/>
            <a:ext cx="8687650" cy="6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4198" spc="20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57853" y="9856978"/>
            <a:ext cx="1230147" cy="3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3199" spc="15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375" y="1746902"/>
            <a:ext cx="11396467" cy="215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391" indent="-291696" lvl="1">
              <a:lnSpc>
                <a:spcPts val="2458"/>
              </a:lnSpc>
              <a:buFont typeface="Arial"/>
              <a:buChar char="•"/>
            </a:pPr>
            <a:r>
              <a:rPr lang="en-US" sz="2702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Industry 4.0 standard IoT communication can be integrated into the platform.</a:t>
            </a:r>
          </a:p>
          <a:p>
            <a:pPr algn="l">
              <a:lnSpc>
                <a:spcPts val="2458"/>
              </a:lnSpc>
            </a:pPr>
          </a:p>
          <a:p>
            <a:pPr algn="l" marL="583391" indent="-291696" lvl="1">
              <a:lnSpc>
                <a:spcPts val="2458"/>
              </a:lnSpc>
              <a:buFont typeface="Arial"/>
              <a:buChar char="•"/>
            </a:pPr>
            <a:r>
              <a:rPr lang="en-US" sz="2702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Platform can be extended by adding regulation data.</a:t>
            </a:r>
          </a:p>
          <a:p>
            <a:pPr algn="l">
              <a:lnSpc>
                <a:spcPts val="2458"/>
              </a:lnSpc>
            </a:pPr>
          </a:p>
          <a:p>
            <a:pPr algn="l" marL="583391" indent="-291696" lvl="1">
              <a:lnSpc>
                <a:spcPts val="2458"/>
              </a:lnSpc>
              <a:buFont typeface="Arial"/>
              <a:buChar char="•"/>
            </a:pPr>
            <a:r>
              <a:rPr lang="en-US" sz="2702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Interoperability across smart farming is enabled by introducing digital twin.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157177" y="10005948"/>
            <a:ext cx="7075735" cy="24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2000" spc="10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FARMING HACKATHON-2025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528362"/>
            <a:ext cx="16408332" cy="188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4"/>
              </a:lnSpc>
            </a:pPr>
            <a:r>
              <a:rPr lang="en-US" sz="15059" spc="7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05E4E16C44A419899AE51C703A258" ma:contentTypeVersion="13" ma:contentTypeDescription="Create a new document." ma:contentTypeScope="" ma:versionID="66294af164d5f9fe012c1c5c0f1671e7">
  <xsd:schema xmlns:xsd="http://www.w3.org/2001/XMLSchema" xmlns:xs="http://www.w3.org/2001/XMLSchema" xmlns:p="http://schemas.microsoft.com/office/2006/metadata/properties" xmlns:ns2="4585495d-1e65-4745-92e1-6a1677e8c6e3" xmlns:ns3="02a07173-652c-41dd-b0b2-15cfa4bda98d" targetNamespace="http://schemas.microsoft.com/office/2006/metadata/properties" ma:root="true" ma:fieldsID="65afc908a14c43f3646218fce714d130" ns2:_="" ns3:_="">
    <xsd:import namespace="4585495d-1e65-4745-92e1-6a1677e8c6e3"/>
    <xsd:import namespace="02a07173-652c-41dd-b0b2-15cfa4bda9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85495d-1e65-4745-92e1-6a1677e8c6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7877319-e47f-417e-bb3c-18e630a7aa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07173-652c-41dd-b0b2-15cfa4bda98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25815a7-82c7-4234-aeed-84605e0fb965}" ma:internalName="TaxCatchAll" ma:showField="CatchAllData" ma:web="02a07173-652c-41dd-b0b2-15cfa4bda9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a07173-652c-41dd-b0b2-15cfa4bda98d" xsi:nil="true"/>
    <lcf76f155ced4ddcb4097134ff3c332f xmlns="4585495d-1e65-4745-92e1-6a1677e8c6e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41C941E-C738-4435-BAE1-18F677691C8B}"/>
</file>

<file path=customXml/itemProps2.xml><?xml version="1.0" encoding="utf-8"?>
<ds:datastoreItem xmlns:ds="http://schemas.openxmlformats.org/officeDocument/2006/customXml" ds:itemID="{C45033D0-54EE-4CED-A7AE-7514FC370BFB}"/>
</file>

<file path=customXml/itemProps3.xml><?xml version="1.0" encoding="utf-8"?>
<ds:datastoreItem xmlns:ds="http://schemas.openxmlformats.org/officeDocument/2006/customXml" ds:itemID="{1390D0E3-9EB3-4685-B89B-33DB3DD6FE6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Colorful Pastel Cute Illustration Project Presentation </dc:title>
  <cp:revision>1</cp:revision>
  <dcterms:created xsi:type="dcterms:W3CDTF">2006-08-16T00:00:00Z</dcterms:created>
  <dcterms:modified xsi:type="dcterms:W3CDTF">2011-08-01T06:04:30Z</dcterms:modified>
  <dc:identifier>DAGyAba1gUM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0x01010043B05E4E16C44A419899AE51C703A258</vt:lpwstr>
  </property>
</Properties>
</file>