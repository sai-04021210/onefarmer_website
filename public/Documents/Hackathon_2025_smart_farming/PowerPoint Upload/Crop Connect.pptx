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Masters/slideMaster1.xml" ContentType="application/vnd.openxmlformats-officedocument.presentationml.slideMaster+xml"/>
  <Override PartName="/ppt/notesSlides/notesSlide4.xml" ContentType="application/vnd.openxmlformats-officedocument.presentationml.notesSlide+xml"/>
  <Override PartName="/ppt/notesSlides/notesSlide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60" r:id="rId3"/>
    <p:sldId id="261" r:id="rId4"/>
    <p:sldId id="262" r:id="rId5"/>
    <p:sldId id="263" r:id="rId6"/>
    <p:sldId id="258" r:id="rId7"/>
    <p:sldId id="266" r:id="rId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798"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5712E48-1CA2-4904-98D9-A8352CFC20D2}" type="datetimeFigureOut">
              <a:rPr lang="en-IN" smtClean="0"/>
              <a:t>04-09-2025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EE60CAD-7172-414C-8C03-DA4297BA137D}" type="slidenum">
              <a:rPr lang="en-IN" smtClean="0"/>
              <a:t>‹#›</a:t>
            </a:fld>
            <a:endParaRPr lang="en-IN"/>
          </a:p>
        </p:txBody>
      </p:sp>
    </p:spTree>
    <p:extLst>
      <p:ext uri="{BB962C8B-B14F-4D97-AF65-F5344CB8AC3E}">
        <p14:creationId xmlns:p14="http://schemas.microsoft.com/office/powerpoint/2010/main" val="3020157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How can we monetize data??</a:t>
            </a:r>
          </a:p>
        </p:txBody>
      </p:sp>
      <p:sp>
        <p:nvSpPr>
          <p:cNvPr id="4" name="Slide Number Placeholder 3"/>
          <p:cNvSpPr>
            <a:spLocks noGrp="1"/>
          </p:cNvSpPr>
          <p:nvPr>
            <p:ph type="sldNum" sz="quarter" idx="5"/>
          </p:nvPr>
        </p:nvSpPr>
        <p:spPr/>
        <p:txBody>
          <a:bodyPr/>
          <a:lstStyle/>
          <a:p>
            <a:fld id="{EEE60CAD-7172-414C-8C03-DA4297BA137D}" type="slidenum">
              <a:rPr lang="en-IN" smtClean="0"/>
              <a:t>2</a:t>
            </a:fld>
            <a:endParaRPr lang="en-IN"/>
          </a:p>
        </p:txBody>
      </p:sp>
    </p:spTree>
    <p:extLst>
      <p:ext uri="{BB962C8B-B14F-4D97-AF65-F5344CB8AC3E}">
        <p14:creationId xmlns:p14="http://schemas.microsoft.com/office/powerpoint/2010/main" val="1625683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platform that connects diverse weather stations via REST API, standardizes and classifies data by location, quality, and parameters (precipitation, temperature, humidity), and enables micropayments through blockchain or token systems. It offers customizable data packages with daily updates or retroactive access and features a transparent dashboard displaying data sources and trust scores.”</a:t>
            </a:r>
            <a:endParaRPr lang="en-IN" dirty="0"/>
          </a:p>
        </p:txBody>
      </p:sp>
      <p:sp>
        <p:nvSpPr>
          <p:cNvPr id="4" name="Slide Number Placeholder 3"/>
          <p:cNvSpPr>
            <a:spLocks noGrp="1"/>
          </p:cNvSpPr>
          <p:nvPr>
            <p:ph type="sldNum" sz="quarter" idx="5"/>
          </p:nvPr>
        </p:nvSpPr>
        <p:spPr/>
        <p:txBody>
          <a:bodyPr/>
          <a:lstStyle/>
          <a:p>
            <a:fld id="{EEE60CAD-7172-414C-8C03-DA4297BA137D}" type="slidenum">
              <a:rPr lang="en-IN" smtClean="0"/>
              <a:t>3</a:t>
            </a:fld>
            <a:endParaRPr lang="en-IN"/>
          </a:p>
        </p:txBody>
      </p:sp>
    </p:spTree>
    <p:extLst>
      <p:ext uri="{BB962C8B-B14F-4D97-AF65-F5344CB8AC3E}">
        <p14:creationId xmlns:p14="http://schemas.microsoft.com/office/powerpoint/2010/main" val="183867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a:buFont typeface="Arial" panose="020B0604020202020204" pitchFamily="34" charset="0"/>
              <a:buChar char="•"/>
            </a:pPr>
            <a:r>
              <a:rPr lang="en-IN" dirty="0"/>
              <a:t>Data Integration:         </a:t>
            </a:r>
            <a:r>
              <a:rPr lang="en-US" dirty="0"/>
              <a:t>Farmers share data via API-enabled stations.</a:t>
            </a:r>
          </a:p>
          <a:p>
            <a:pPr marL="285750" indent="-285750" algn="l">
              <a:buFont typeface="Arial" panose="020B0604020202020204" pitchFamily="34" charset="0"/>
              <a:buChar char="•"/>
            </a:pPr>
            <a:r>
              <a:rPr lang="en-US" dirty="0"/>
              <a:t>Data Validation:          Data is classified, validated, and scored for trust.</a:t>
            </a:r>
          </a:p>
          <a:p>
            <a:pPr marL="285750" indent="-285750" algn="l">
              <a:buFont typeface="Arial" panose="020B0604020202020204" pitchFamily="34" charset="0"/>
              <a:buChar char="•"/>
            </a:pPr>
            <a:r>
              <a:rPr lang="en-US" dirty="0"/>
              <a:t>Real-Time Filters:       Users select/customize data packages.</a:t>
            </a:r>
          </a:p>
          <a:p>
            <a:pPr marL="285750" indent="-285750" algn="l">
              <a:buFont typeface="Arial" panose="020B0604020202020204" pitchFamily="34" charset="0"/>
              <a:buChar char="•"/>
            </a:pPr>
            <a:r>
              <a:rPr lang="en-US" dirty="0"/>
              <a:t>Instant Coin Deposit:  Payments handled automatically via micropayments/token system.</a:t>
            </a:r>
          </a:p>
          <a:p>
            <a:pPr marL="285750" indent="-285750" algn="l">
              <a:buFont typeface="Arial" panose="020B0604020202020204" pitchFamily="34" charset="0"/>
              <a:buChar char="•"/>
            </a:pPr>
            <a:r>
              <a:rPr lang="en-US" dirty="0"/>
              <a:t>Track &amp; Optimize:       Dashboard provides full transparency on sources   and trust metrics</a:t>
            </a:r>
          </a:p>
          <a:p>
            <a:pPr marL="285750" indent="-285750">
              <a:buFont typeface="Arial" panose="020B0604020202020204" pitchFamily="34" charset="0"/>
              <a:buChar char="•"/>
            </a:pPr>
            <a:endParaRPr lang="en-US" dirty="0"/>
          </a:p>
          <a:p>
            <a:endParaRPr lang="en-IN" dirty="0"/>
          </a:p>
          <a:p>
            <a:endParaRPr lang="en-IN" dirty="0"/>
          </a:p>
        </p:txBody>
      </p:sp>
      <p:sp>
        <p:nvSpPr>
          <p:cNvPr id="4" name="Slide Number Placeholder 3"/>
          <p:cNvSpPr>
            <a:spLocks noGrp="1"/>
          </p:cNvSpPr>
          <p:nvPr>
            <p:ph type="sldNum" sz="quarter" idx="5"/>
          </p:nvPr>
        </p:nvSpPr>
        <p:spPr/>
        <p:txBody>
          <a:bodyPr/>
          <a:lstStyle/>
          <a:p>
            <a:fld id="{EEE60CAD-7172-414C-8C03-DA4297BA137D}" type="slidenum">
              <a:rPr lang="en-IN" smtClean="0"/>
              <a:t>4</a:t>
            </a:fld>
            <a:endParaRPr lang="en-IN"/>
          </a:p>
        </p:txBody>
      </p:sp>
    </p:spTree>
    <p:extLst>
      <p:ext uri="{BB962C8B-B14F-4D97-AF65-F5344CB8AC3E}">
        <p14:creationId xmlns:p14="http://schemas.microsoft.com/office/powerpoint/2010/main" val="2233487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Primary Users- Insurance companies, agricultural apps,  farmers</a:t>
            </a:r>
          </a:p>
        </p:txBody>
      </p:sp>
      <p:sp>
        <p:nvSpPr>
          <p:cNvPr id="4" name="Slide Number Placeholder 3"/>
          <p:cNvSpPr>
            <a:spLocks noGrp="1"/>
          </p:cNvSpPr>
          <p:nvPr>
            <p:ph type="sldNum" sz="quarter" idx="5"/>
          </p:nvPr>
        </p:nvSpPr>
        <p:spPr/>
        <p:txBody>
          <a:bodyPr/>
          <a:lstStyle/>
          <a:p>
            <a:fld id="{EEE60CAD-7172-414C-8C03-DA4297BA137D}" type="slidenum">
              <a:rPr lang="en-IN" smtClean="0"/>
              <a:t>5</a:t>
            </a:fld>
            <a:endParaRPr lang="en-IN"/>
          </a:p>
        </p:txBody>
      </p:sp>
    </p:spTree>
    <p:extLst>
      <p:ext uri="{BB962C8B-B14F-4D97-AF65-F5344CB8AC3E}">
        <p14:creationId xmlns:p14="http://schemas.microsoft.com/office/powerpoint/2010/main" val="2583155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950" b="1" i="0">
                <a:solidFill>
                  <a:schemeClr val="tx1"/>
                </a:solidFill>
                <a:latin typeface="Tahoma"/>
                <a:cs typeface="Tahom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pPr marL="12700">
              <a:lnSpc>
                <a:spcPct val="100000"/>
              </a:lnSpc>
              <a:spcBef>
                <a:spcPts val="15"/>
              </a:spcBef>
            </a:pPr>
            <a:r>
              <a:rPr dirty="0"/>
              <a:t>Smart</a:t>
            </a:r>
            <a:r>
              <a:rPr spc="-25" dirty="0"/>
              <a:t> </a:t>
            </a:r>
            <a:r>
              <a:rPr spc="-10" dirty="0"/>
              <a:t>Farming</a:t>
            </a:r>
            <a:r>
              <a:rPr spc="-35" dirty="0"/>
              <a:t> </a:t>
            </a:r>
            <a:r>
              <a:rPr dirty="0"/>
              <a:t>Hackathon</a:t>
            </a:r>
            <a:r>
              <a:rPr spc="-60" dirty="0"/>
              <a:t> </a:t>
            </a:r>
            <a:r>
              <a:rPr spc="-20" dirty="0"/>
              <a:t>2025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pPr marL="12700">
              <a:lnSpc>
                <a:spcPct val="100000"/>
              </a:lnSpc>
              <a:spcBef>
                <a:spcPts val="15"/>
              </a:spcBef>
            </a:pPr>
            <a:r>
              <a:rPr dirty="0"/>
              <a:t>Smart</a:t>
            </a:r>
            <a:r>
              <a:rPr spc="-25" dirty="0"/>
              <a:t> </a:t>
            </a:r>
            <a:r>
              <a:rPr spc="-10" dirty="0"/>
              <a:t>Farming</a:t>
            </a:r>
            <a:r>
              <a:rPr spc="-35" dirty="0"/>
              <a:t> </a:t>
            </a:r>
            <a:r>
              <a:rPr dirty="0"/>
              <a:t>Hackathon</a:t>
            </a:r>
            <a:r>
              <a:rPr spc="-60" dirty="0"/>
              <a:t> </a:t>
            </a:r>
            <a:r>
              <a:rPr spc="-20" dirty="0"/>
              <a:t>2025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ahoma"/>
                <a:cs typeface="Tahom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pPr marL="12700">
              <a:lnSpc>
                <a:spcPct val="100000"/>
              </a:lnSpc>
              <a:spcBef>
                <a:spcPts val="15"/>
              </a:spcBef>
            </a:pPr>
            <a:r>
              <a:rPr dirty="0"/>
              <a:t>Smart</a:t>
            </a:r>
            <a:r>
              <a:rPr spc="-25" dirty="0"/>
              <a:t> </a:t>
            </a:r>
            <a:r>
              <a:rPr spc="-10" dirty="0"/>
              <a:t>Farming</a:t>
            </a:r>
            <a:r>
              <a:rPr spc="-35" dirty="0"/>
              <a:t> </a:t>
            </a:r>
            <a:r>
              <a:rPr dirty="0"/>
              <a:t>Hackathon</a:t>
            </a:r>
            <a:r>
              <a:rPr spc="-60" dirty="0"/>
              <a:t> </a:t>
            </a:r>
            <a:r>
              <a:rPr spc="-20" dirty="0"/>
              <a:t>2025</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pPr marL="12700">
              <a:lnSpc>
                <a:spcPct val="100000"/>
              </a:lnSpc>
              <a:spcBef>
                <a:spcPts val="15"/>
              </a:spcBef>
            </a:pPr>
            <a:r>
              <a:rPr dirty="0"/>
              <a:t>Smart</a:t>
            </a:r>
            <a:r>
              <a:rPr spc="-25" dirty="0"/>
              <a:t> </a:t>
            </a:r>
            <a:r>
              <a:rPr spc="-10" dirty="0"/>
              <a:t>Farming</a:t>
            </a:r>
            <a:r>
              <a:rPr spc="-35" dirty="0"/>
              <a:t> </a:t>
            </a:r>
            <a:r>
              <a:rPr dirty="0"/>
              <a:t>Hackathon</a:t>
            </a:r>
            <a:r>
              <a:rPr spc="-60" dirty="0"/>
              <a:t> </a:t>
            </a:r>
            <a:r>
              <a:rPr spc="-20" dirty="0"/>
              <a:t>2025</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bg1"/>
                </a:solidFill>
                <a:latin typeface="Calibri"/>
                <a:cs typeface="Calibri"/>
              </a:defRPr>
            </a:lvl1pPr>
          </a:lstStyle>
          <a:p>
            <a:pPr marL="12700">
              <a:lnSpc>
                <a:spcPct val="100000"/>
              </a:lnSpc>
              <a:spcBef>
                <a:spcPts val="15"/>
              </a:spcBef>
            </a:pPr>
            <a:r>
              <a:rPr dirty="0"/>
              <a:t>Smart</a:t>
            </a:r>
            <a:r>
              <a:rPr spc="-25" dirty="0"/>
              <a:t> </a:t>
            </a:r>
            <a:r>
              <a:rPr spc="-10" dirty="0"/>
              <a:t>Farming</a:t>
            </a:r>
            <a:r>
              <a:rPr spc="-35" dirty="0"/>
              <a:t> </a:t>
            </a:r>
            <a:r>
              <a:rPr dirty="0"/>
              <a:t>Hackathon</a:t>
            </a:r>
            <a:r>
              <a:rPr spc="-60" dirty="0"/>
              <a:t> </a:t>
            </a:r>
            <a:r>
              <a:rPr spc="-20" dirty="0"/>
              <a:t>2025</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162049" cy="6353175"/>
          </a:xfrm>
          <a:prstGeom prst="rect">
            <a:avLst/>
          </a:prstGeom>
        </p:spPr>
      </p:pic>
      <p:sp>
        <p:nvSpPr>
          <p:cNvPr id="17" name="bg object 17"/>
          <p:cNvSpPr/>
          <p:nvPr/>
        </p:nvSpPr>
        <p:spPr>
          <a:xfrm>
            <a:off x="0" y="6353175"/>
            <a:ext cx="12192000" cy="504825"/>
          </a:xfrm>
          <a:custGeom>
            <a:avLst/>
            <a:gdLst/>
            <a:ahLst/>
            <a:cxnLst/>
            <a:rect l="l" t="t" r="r" b="b"/>
            <a:pathLst>
              <a:path w="12192000" h="504825">
                <a:moveTo>
                  <a:pt x="12192000" y="0"/>
                </a:moveTo>
                <a:lnTo>
                  <a:pt x="0" y="0"/>
                </a:lnTo>
                <a:lnTo>
                  <a:pt x="0" y="504825"/>
                </a:lnTo>
                <a:lnTo>
                  <a:pt x="12192000" y="504825"/>
                </a:lnTo>
                <a:lnTo>
                  <a:pt x="12192000" y="0"/>
                </a:lnTo>
                <a:close/>
              </a:path>
            </a:pathLst>
          </a:custGeom>
          <a:solidFill>
            <a:srgbClr val="173E31"/>
          </a:solidFill>
        </p:spPr>
        <p:txBody>
          <a:bodyPr wrap="square" lIns="0" tIns="0" rIns="0" bIns="0" rtlCol="0"/>
          <a:lstStyle/>
          <a:p>
            <a:endParaRPr/>
          </a:p>
        </p:txBody>
      </p:sp>
      <p:sp>
        <p:nvSpPr>
          <p:cNvPr id="18" name="bg object 18"/>
          <p:cNvSpPr/>
          <p:nvPr/>
        </p:nvSpPr>
        <p:spPr>
          <a:xfrm>
            <a:off x="0" y="6353175"/>
            <a:ext cx="12192000" cy="504825"/>
          </a:xfrm>
          <a:custGeom>
            <a:avLst/>
            <a:gdLst/>
            <a:ahLst/>
            <a:cxnLst/>
            <a:rect l="l" t="t" r="r" b="b"/>
            <a:pathLst>
              <a:path w="12192000" h="504825">
                <a:moveTo>
                  <a:pt x="0" y="504825"/>
                </a:moveTo>
                <a:lnTo>
                  <a:pt x="12192000" y="504825"/>
                </a:lnTo>
                <a:lnTo>
                  <a:pt x="12192000" y="0"/>
                </a:lnTo>
                <a:lnTo>
                  <a:pt x="0" y="0"/>
                </a:lnTo>
                <a:lnTo>
                  <a:pt x="0" y="504825"/>
                </a:lnTo>
                <a:close/>
              </a:path>
            </a:pathLst>
          </a:custGeom>
          <a:ln w="19050">
            <a:solidFill>
              <a:srgbClr val="042333"/>
            </a:solidFill>
          </a:ln>
        </p:spPr>
        <p:txBody>
          <a:bodyPr wrap="square" lIns="0" tIns="0" rIns="0" bIns="0" rtlCol="0"/>
          <a:lstStyle/>
          <a:p>
            <a:endParaRPr/>
          </a:p>
        </p:txBody>
      </p:sp>
      <p:sp>
        <p:nvSpPr>
          <p:cNvPr id="2" name="Holder 2"/>
          <p:cNvSpPr>
            <a:spLocks noGrp="1"/>
          </p:cNvSpPr>
          <p:nvPr>
            <p:ph type="title"/>
          </p:nvPr>
        </p:nvSpPr>
        <p:spPr>
          <a:xfrm>
            <a:off x="1346453" y="210185"/>
            <a:ext cx="9499092" cy="632460"/>
          </a:xfrm>
          <a:prstGeom prst="rect">
            <a:avLst/>
          </a:prstGeom>
        </p:spPr>
        <p:txBody>
          <a:bodyPr wrap="square" lIns="0" tIns="0" rIns="0" bIns="0">
            <a:spAutoFit/>
          </a:bodyPr>
          <a:lstStyle>
            <a:lvl1pPr>
              <a:defRPr sz="3950" b="1" i="0">
                <a:solidFill>
                  <a:schemeClr val="tx1"/>
                </a:solidFill>
                <a:latin typeface="Tahoma"/>
                <a:cs typeface="Tahoma"/>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78739" y="6456203"/>
            <a:ext cx="2941955" cy="305434"/>
          </a:xfrm>
          <a:prstGeom prst="rect">
            <a:avLst/>
          </a:prstGeom>
        </p:spPr>
        <p:txBody>
          <a:bodyPr wrap="square" lIns="0" tIns="0" rIns="0" bIns="0">
            <a:spAutoFit/>
          </a:bodyPr>
          <a:lstStyle>
            <a:lvl1pPr>
              <a:defRPr sz="1800" b="0" i="0">
                <a:solidFill>
                  <a:schemeClr val="bg1"/>
                </a:solidFill>
                <a:latin typeface="Calibri"/>
                <a:cs typeface="Calibri"/>
              </a:defRPr>
            </a:lvl1pPr>
          </a:lstStyle>
          <a:p>
            <a:pPr marL="12700">
              <a:lnSpc>
                <a:spcPct val="100000"/>
              </a:lnSpc>
              <a:spcBef>
                <a:spcPts val="15"/>
              </a:spcBef>
            </a:pPr>
            <a:r>
              <a:rPr dirty="0"/>
              <a:t>Smart</a:t>
            </a:r>
            <a:r>
              <a:rPr spc="-25" dirty="0"/>
              <a:t> </a:t>
            </a:r>
            <a:r>
              <a:rPr spc="-10" dirty="0"/>
              <a:t>Farming</a:t>
            </a:r>
            <a:r>
              <a:rPr spc="-35" dirty="0"/>
              <a:t> </a:t>
            </a:r>
            <a:r>
              <a:rPr dirty="0"/>
              <a:t>Hackathon</a:t>
            </a:r>
            <a:r>
              <a:rPr spc="-60" dirty="0"/>
              <a:t> </a:t>
            </a:r>
            <a:r>
              <a:rPr spc="-20" dirty="0"/>
              <a:t>2025</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0480" y="68931"/>
            <a:ext cx="12211050" cy="6867525"/>
            <a:chOff x="-9525" y="0"/>
            <a:chExt cx="12211050" cy="6867525"/>
          </a:xfrm>
        </p:grpSpPr>
        <p:pic>
          <p:nvPicPr>
            <p:cNvPr id="3" name="object 3"/>
            <p:cNvPicPr/>
            <p:nvPr/>
          </p:nvPicPr>
          <p:blipFill>
            <a:blip r:embed="rId2" cstate="print"/>
            <a:stretch>
              <a:fillRect/>
            </a:stretch>
          </p:blipFill>
          <p:spPr>
            <a:xfrm>
              <a:off x="0" y="0"/>
              <a:ext cx="12191999" cy="6353175"/>
            </a:xfrm>
            <a:prstGeom prst="rect">
              <a:avLst/>
            </a:prstGeom>
          </p:spPr>
        </p:pic>
        <p:sp>
          <p:nvSpPr>
            <p:cNvPr id="4" name="object 4"/>
            <p:cNvSpPr/>
            <p:nvPr/>
          </p:nvSpPr>
          <p:spPr>
            <a:xfrm>
              <a:off x="0" y="6353175"/>
              <a:ext cx="12192000" cy="504825"/>
            </a:xfrm>
            <a:custGeom>
              <a:avLst/>
              <a:gdLst/>
              <a:ahLst/>
              <a:cxnLst/>
              <a:rect l="l" t="t" r="r" b="b"/>
              <a:pathLst>
                <a:path w="12192000" h="504825">
                  <a:moveTo>
                    <a:pt x="12192000" y="0"/>
                  </a:moveTo>
                  <a:lnTo>
                    <a:pt x="0" y="0"/>
                  </a:lnTo>
                  <a:lnTo>
                    <a:pt x="0" y="504825"/>
                  </a:lnTo>
                  <a:lnTo>
                    <a:pt x="12192000" y="504825"/>
                  </a:lnTo>
                  <a:lnTo>
                    <a:pt x="12192000" y="0"/>
                  </a:lnTo>
                  <a:close/>
                </a:path>
              </a:pathLst>
            </a:custGeom>
            <a:solidFill>
              <a:srgbClr val="173E31"/>
            </a:solidFill>
          </p:spPr>
          <p:txBody>
            <a:bodyPr wrap="square" lIns="0" tIns="0" rIns="0" bIns="0" rtlCol="0"/>
            <a:lstStyle/>
            <a:p>
              <a:endParaRPr/>
            </a:p>
          </p:txBody>
        </p:sp>
        <p:sp>
          <p:nvSpPr>
            <p:cNvPr id="5" name="object 5"/>
            <p:cNvSpPr/>
            <p:nvPr/>
          </p:nvSpPr>
          <p:spPr>
            <a:xfrm>
              <a:off x="0" y="6353175"/>
              <a:ext cx="12192000" cy="504825"/>
            </a:xfrm>
            <a:custGeom>
              <a:avLst/>
              <a:gdLst/>
              <a:ahLst/>
              <a:cxnLst/>
              <a:rect l="l" t="t" r="r" b="b"/>
              <a:pathLst>
                <a:path w="12192000" h="504825">
                  <a:moveTo>
                    <a:pt x="0" y="504825"/>
                  </a:moveTo>
                  <a:lnTo>
                    <a:pt x="12192000" y="504825"/>
                  </a:lnTo>
                  <a:lnTo>
                    <a:pt x="12192000" y="0"/>
                  </a:lnTo>
                  <a:lnTo>
                    <a:pt x="0" y="0"/>
                  </a:lnTo>
                  <a:lnTo>
                    <a:pt x="0" y="504825"/>
                  </a:lnTo>
                  <a:close/>
                </a:path>
              </a:pathLst>
            </a:custGeom>
            <a:ln w="19050">
              <a:solidFill>
                <a:srgbClr val="042333"/>
              </a:solidFill>
            </a:ln>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Smart</a:t>
            </a:r>
            <a:r>
              <a:rPr spc="-25" dirty="0"/>
              <a:t> </a:t>
            </a:r>
            <a:r>
              <a:rPr spc="-10" dirty="0"/>
              <a:t>Farming</a:t>
            </a:r>
            <a:r>
              <a:rPr spc="-35" dirty="0"/>
              <a:t> </a:t>
            </a:r>
            <a:r>
              <a:rPr dirty="0"/>
              <a:t>Hackathon</a:t>
            </a:r>
            <a:r>
              <a:rPr spc="-60" dirty="0"/>
              <a:t> </a:t>
            </a:r>
            <a:r>
              <a:rPr spc="-20" dirty="0"/>
              <a:t>2025</a:t>
            </a:r>
          </a:p>
        </p:txBody>
      </p:sp>
      <p:sp>
        <p:nvSpPr>
          <p:cNvPr id="7" name="object 7"/>
          <p:cNvSpPr txBox="1">
            <a:spLocks noGrp="1"/>
          </p:cNvSpPr>
          <p:nvPr>
            <p:ph type="title"/>
          </p:nvPr>
        </p:nvSpPr>
        <p:spPr>
          <a:xfrm>
            <a:off x="533400" y="1066800"/>
            <a:ext cx="10668000" cy="1186222"/>
          </a:xfrm>
          <a:prstGeom prst="rect">
            <a:avLst/>
          </a:prstGeom>
        </p:spPr>
        <p:txBody>
          <a:bodyPr vert="horz" wrap="square" lIns="0" tIns="16510" rIns="0" bIns="0" rtlCol="0">
            <a:spAutoFit/>
          </a:bodyPr>
          <a:lstStyle/>
          <a:p>
            <a:pPr marL="12700">
              <a:lnSpc>
                <a:spcPct val="100000"/>
              </a:lnSpc>
              <a:spcBef>
                <a:spcPts val="130"/>
              </a:spcBef>
            </a:pPr>
            <a:r>
              <a:rPr lang="en-IN" sz="4400" spc="-70" dirty="0" err="1"/>
              <a:t>WeatherMesh</a:t>
            </a:r>
            <a:r>
              <a:rPr lang="en-IN" sz="4000" spc="-70" dirty="0"/>
              <a:t> </a:t>
            </a:r>
            <a:br>
              <a:rPr lang="en-IN" sz="4000" spc="-70" dirty="0"/>
            </a:br>
            <a:r>
              <a:rPr lang="en-IN" sz="3200" b="0" spc="-70" dirty="0"/>
              <a:t>Empowering farmers with data, rewards &amp; insights  </a:t>
            </a:r>
            <a:endParaRPr sz="3200" b="0" spc="-70" dirty="0"/>
          </a:p>
        </p:txBody>
      </p:sp>
      <p:sp>
        <p:nvSpPr>
          <p:cNvPr id="9" name="TextBox 8">
            <a:extLst>
              <a:ext uri="{FF2B5EF4-FFF2-40B4-BE49-F238E27FC236}">
                <a16:creationId xmlns:a16="http://schemas.microsoft.com/office/drawing/2014/main" id="{5CF48515-900F-DAC4-1000-B8097AE2CC45}"/>
              </a:ext>
            </a:extLst>
          </p:cNvPr>
          <p:cNvSpPr txBox="1"/>
          <p:nvPr/>
        </p:nvSpPr>
        <p:spPr>
          <a:xfrm>
            <a:off x="8305800" y="3657600"/>
            <a:ext cx="4096132" cy="1569660"/>
          </a:xfrm>
          <a:prstGeom prst="rect">
            <a:avLst/>
          </a:prstGeom>
          <a:noFill/>
        </p:spPr>
        <p:txBody>
          <a:bodyPr wrap="square" rtlCol="0">
            <a:spAutoFit/>
          </a:bodyPr>
          <a:lstStyle/>
          <a:p>
            <a:r>
              <a:rPr lang="en-IN" sz="2400" dirty="0" err="1"/>
              <a:t>Vamshidhar</a:t>
            </a:r>
            <a:r>
              <a:rPr lang="en-IN" sz="2400" dirty="0"/>
              <a:t> Pratap</a:t>
            </a:r>
          </a:p>
          <a:p>
            <a:r>
              <a:rPr lang="en-IN" sz="2400" dirty="0"/>
              <a:t>Bhavana Ramesh</a:t>
            </a:r>
          </a:p>
          <a:p>
            <a:r>
              <a:rPr lang="en-IN" sz="2400" dirty="0"/>
              <a:t>Lukas Kamm</a:t>
            </a:r>
            <a:br>
              <a:rPr lang="en-IN" sz="2400" dirty="0"/>
            </a:br>
            <a:r>
              <a:rPr lang="en-IN" sz="2400" dirty="0"/>
              <a:t>Pardeep Kumar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8717-3140-0F1C-EC16-5E681A786C8B}"/>
              </a:ext>
            </a:extLst>
          </p:cNvPr>
          <p:cNvSpPr>
            <a:spLocks noGrp="1"/>
          </p:cNvSpPr>
          <p:nvPr>
            <p:ph type="title"/>
          </p:nvPr>
        </p:nvSpPr>
        <p:spPr>
          <a:xfrm>
            <a:off x="1447800" y="407313"/>
            <a:ext cx="9499092" cy="430887"/>
          </a:xfrm>
        </p:spPr>
        <p:txBody>
          <a:bodyPr/>
          <a:lstStyle/>
          <a:p>
            <a:r>
              <a:rPr lang="en-IN" sz="2800" dirty="0"/>
              <a:t>The Problem </a:t>
            </a:r>
          </a:p>
        </p:txBody>
      </p:sp>
      <p:sp>
        <p:nvSpPr>
          <p:cNvPr id="4" name="TextBox 3">
            <a:extLst>
              <a:ext uri="{FF2B5EF4-FFF2-40B4-BE49-F238E27FC236}">
                <a16:creationId xmlns:a16="http://schemas.microsoft.com/office/drawing/2014/main" id="{81B450C0-AB9D-1408-E5D9-051780AF19C0}"/>
              </a:ext>
            </a:extLst>
          </p:cNvPr>
          <p:cNvSpPr txBox="1"/>
          <p:nvPr/>
        </p:nvSpPr>
        <p:spPr>
          <a:xfrm>
            <a:off x="1351071" y="882794"/>
            <a:ext cx="5282947" cy="461665"/>
          </a:xfrm>
          <a:prstGeom prst="rect">
            <a:avLst/>
          </a:prstGeom>
          <a:noFill/>
        </p:spPr>
        <p:txBody>
          <a:bodyPr wrap="square" rtlCol="0">
            <a:spAutoFit/>
          </a:bodyPr>
          <a:lstStyle/>
          <a:p>
            <a:r>
              <a:rPr lang="en-IN" sz="2400" dirty="0"/>
              <a:t>A Data Gap in Agriculture</a:t>
            </a:r>
          </a:p>
        </p:txBody>
      </p:sp>
      <p:pic>
        <p:nvPicPr>
          <p:cNvPr id="5" name="Picture 4">
            <a:extLst>
              <a:ext uri="{FF2B5EF4-FFF2-40B4-BE49-F238E27FC236}">
                <a16:creationId xmlns:a16="http://schemas.microsoft.com/office/drawing/2014/main" id="{6AAC0D51-484C-A310-2733-180238920EEE}"/>
              </a:ext>
            </a:extLst>
          </p:cNvPr>
          <p:cNvPicPr>
            <a:picLocks noChangeAspect="1"/>
          </p:cNvPicPr>
          <p:nvPr/>
        </p:nvPicPr>
        <p:blipFill>
          <a:blip r:embed="rId3"/>
          <a:stretch>
            <a:fillRect/>
          </a:stretch>
        </p:blipFill>
        <p:spPr>
          <a:xfrm>
            <a:off x="1600200" y="1914882"/>
            <a:ext cx="3257550" cy="2438400"/>
          </a:xfrm>
          <a:prstGeom prst="rect">
            <a:avLst/>
          </a:prstGeom>
        </p:spPr>
      </p:pic>
      <p:sp>
        <p:nvSpPr>
          <p:cNvPr id="6" name="TextBox 5">
            <a:extLst>
              <a:ext uri="{FF2B5EF4-FFF2-40B4-BE49-F238E27FC236}">
                <a16:creationId xmlns:a16="http://schemas.microsoft.com/office/drawing/2014/main" id="{97CF6F56-944B-B180-1E77-46B0CE0E089F}"/>
              </a:ext>
            </a:extLst>
          </p:cNvPr>
          <p:cNvSpPr txBox="1"/>
          <p:nvPr/>
        </p:nvSpPr>
        <p:spPr>
          <a:xfrm>
            <a:off x="1971674" y="4645875"/>
            <a:ext cx="2667001" cy="646331"/>
          </a:xfrm>
          <a:prstGeom prst="rect">
            <a:avLst/>
          </a:prstGeom>
          <a:noFill/>
        </p:spPr>
        <p:txBody>
          <a:bodyPr wrap="square" rtlCol="0">
            <a:spAutoFit/>
          </a:bodyPr>
          <a:lstStyle/>
          <a:p>
            <a:r>
              <a:rPr lang="en-IN" dirty="0"/>
              <a:t>Insufficient reliable weather data  </a:t>
            </a:r>
          </a:p>
        </p:txBody>
      </p:sp>
      <p:pic>
        <p:nvPicPr>
          <p:cNvPr id="7" name="Picture 6">
            <a:extLst>
              <a:ext uri="{FF2B5EF4-FFF2-40B4-BE49-F238E27FC236}">
                <a16:creationId xmlns:a16="http://schemas.microsoft.com/office/drawing/2014/main" id="{A3522119-2C32-A9A6-1CF5-03F9F09CB862}"/>
              </a:ext>
            </a:extLst>
          </p:cNvPr>
          <p:cNvPicPr>
            <a:picLocks noChangeAspect="1"/>
          </p:cNvPicPr>
          <p:nvPr/>
        </p:nvPicPr>
        <p:blipFill>
          <a:blip r:embed="rId4"/>
          <a:stretch>
            <a:fillRect/>
          </a:stretch>
        </p:blipFill>
        <p:spPr>
          <a:xfrm>
            <a:off x="5791200" y="1823843"/>
            <a:ext cx="2497151" cy="2253031"/>
          </a:xfrm>
          <a:prstGeom prst="rect">
            <a:avLst/>
          </a:prstGeom>
        </p:spPr>
      </p:pic>
      <p:pic>
        <p:nvPicPr>
          <p:cNvPr id="10" name="Picture 9">
            <a:extLst>
              <a:ext uri="{FF2B5EF4-FFF2-40B4-BE49-F238E27FC236}">
                <a16:creationId xmlns:a16="http://schemas.microsoft.com/office/drawing/2014/main" id="{50F32BD9-4A31-FE45-7EB5-A00740B7B8D5}"/>
              </a:ext>
            </a:extLst>
          </p:cNvPr>
          <p:cNvPicPr>
            <a:picLocks noChangeAspect="1"/>
          </p:cNvPicPr>
          <p:nvPr/>
        </p:nvPicPr>
        <p:blipFill>
          <a:blip r:embed="rId5"/>
          <a:stretch>
            <a:fillRect/>
          </a:stretch>
        </p:blipFill>
        <p:spPr>
          <a:xfrm>
            <a:off x="9359598" y="1914882"/>
            <a:ext cx="2312003" cy="2155434"/>
          </a:xfrm>
          <a:prstGeom prst="rect">
            <a:avLst/>
          </a:prstGeom>
        </p:spPr>
      </p:pic>
      <p:sp>
        <p:nvSpPr>
          <p:cNvPr id="13" name="TextBox 12">
            <a:extLst>
              <a:ext uri="{FF2B5EF4-FFF2-40B4-BE49-F238E27FC236}">
                <a16:creationId xmlns:a16="http://schemas.microsoft.com/office/drawing/2014/main" id="{959B2DF0-F360-A2F0-4BB7-7DCB576F5688}"/>
              </a:ext>
            </a:extLst>
          </p:cNvPr>
          <p:cNvSpPr txBox="1"/>
          <p:nvPr/>
        </p:nvSpPr>
        <p:spPr>
          <a:xfrm>
            <a:off x="5576799" y="4645875"/>
            <a:ext cx="3830647" cy="646331"/>
          </a:xfrm>
          <a:prstGeom prst="rect">
            <a:avLst/>
          </a:prstGeom>
          <a:noFill/>
        </p:spPr>
        <p:txBody>
          <a:bodyPr wrap="square" rtlCol="0">
            <a:spAutoFit/>
          </a:bodyPr>
          <a:lstStyle/>
          <a:p>
            <a:r>
              <a:rPr lang="en-IN" dirty="0"/>
              <a:t>Multiple Unutilized Weather Stations</a:t>
            </a:r>
          </a:p>
        </p:txBody>
      </p:sp>
      <p:sp>
        <p:nvSpPr>
          <p:cNvPr id="14" name="TextBox 13">
            <a:extLst>
              <a:ext uri="{FF2B5EF4-FFF2-40B4-BE49-F238E27FC236}">
                <a16:creationId xmlns:a16="http://schemas.microsoft.com/office/drawing/2014/main" id="{3ECA5E31-3A46-27C2-9D1A-5559A7A23365}"/>
              </a:ext>
            </a:extLst>
          </p:cNvPr>
          <p:cNvSpPr txBox="1"/>
          <p:nvPr/>
        </p:nvSpPr>
        <p:spPr>
          <a:xfrm>
            <a:off x="9524999" y="4645874"/>
            <a:ext cx="2667001" cy="646331"/>
          </a:xfrm>
          <a:prstGeom prst="rect">
            <a:avLst/>
          </a:prstGeom>
          <a:noFill/>
        </p:spPr>
        <p:txBody>
          <a:bodyPr wrap="square" rtlCol="0">
            <a:spAutoFit/>
          </a:bodyPr>
          <a:lstStyle/>
          <a:p>
            <a:r>
              <a:rPr lang="en-IN" dirty="0"/>
              <a:t>What comes in exchange with data?</a:t>
            </a:r>
          </a:p>
        </p:txBody>
      </p:sp>
    </p:spTree>
    <p:extLst>
      <p:ext uri="{BB962C8B-B14F-4D97-AF65-F5344CB8AC3E}">
        <p14:creationId xmlns:p14="http://schemas.microsoft.com/office/powerpoint/2010/main" val="4287633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F6CFB-F4E0-87A9-0A14-F8C7DD40DE22}"/>
              </a:ext>
            </a:extLst>
          </p:cNvPr>
          <p:cNvSpPr>
            <a:spLocks noGrp="1"/>
          </p:cNvSpPr>
          <p:nvPr>
            <p:ph type="title"/>
          </p:nvPr>
        </p:nvSpPr>
        <p:spPr>
          <a:xfrm>
            <a:off x="1600200" y="533400"/>
            <a:ext cx="9499092" cy="430887"/>
          </a:xfrm>
        </p:spPr>
        <p:txBody>
          <a:bodyPr/>
          <a:lstStyle/>
          <a:p>
            <a:r>
              <a:rPr lang="en-IN" sz="2800" dirty="0"/>
              <a:t>Solution</a:t>
            </a:r>
          </a:p>
        </p:txBody>
      </p:sp>
      <p:sp>
        <p:nvSpPr>
          <p:cNvPr id="3" name="TextBox 2">
            <a:extLst>
              <a:ext uri="{FF2B5EF4-FFF2-40B4-BE49-F238E27FC236}">
                <a16:creationId xmlns:a16="http://schemas.microsoft.com/office/drawing/2014/main" id="{37A6BF46-D699-E587-A444-5815839ADC35}"/>
              </a:ext>
            </a:extLst>
          </p:cNvPr>
          <p:cNvSpPr txBox="1"/>
          <p:nvPr/>
        </p:nvSpPr>
        <p:spPr>
          <a:xfrm>
            <a:off x="1524000" y="1371600"/>
            <a:ext cx="6096000" cy="369332"/>
          </a:xfrm>
          <a:prstGeom prst="rect">
            <a:avLst/>
          </a:prstGeom>
          <a:noFill/>
        </p:spPr>
        <p:txBody>
          <a:bodyPr wrap="square" rtlCol="0">
            <a:spAutoFit/>
          </a:bodyPr>
          <a:lstStyle/>
          <a:p>
            <a:pPr marL="285750" indent="-285750">
              <a:buFont typeface="Arial" panose="020B0604020202020204" pitchFamily="34" charset="0"/>
              <a:buChar char="•"/>
            </a:pPr>
            <a:r>
              <a:rPr lang="en-IN" dirty="0"/>
              <a:t> </a:t>
            </a:r>
            <a:r>
              <a:rPr lang="en-IN" b="1" dirty="0" err="1"/>
              <a:t>WeatherMesh</a:t>
            </a:r>
            <a:r>
              <a:rPr lang="en-IN" dirty="0"/>
              <a:t>: A Decentralized Network </a:t>
            </a:r>
          </a:p>
        </p:txBody>
      </p:sp>
      <p:pic>
        <p:nvPicPr>
          <p:cNvPr id="4" name="Picture 3">
            <a:extLst>
              <a:ext uri="{FF2B5EF4-FFF2-40B4-BE49-F238E27FC236}">
                <a16:creationId xmlns:a16="http://schemas.microsoft.com/office/drawing/2014/main" id="{F99F2371-749F-F293-C6D4-D7B950BE2B3C}"/>
              </a:ext>
            </a:extLst>
          </p:cNvPr>
          <p:cNvPicPr>
            <a:picLocks noChangeAspect="1"/>
          </p:cNvPicPr>
          <p:nvPr/>
        </p:nvPicPr>
        <p:blipFill>
          <a:blip r:embed="rId3"/>
          <a:stretch>
            <a:fillRect/>
          </a:stretch>
        </p:blipFill>
        <p:spPr>
          <a:xfrm>
            <a:off x="2667000" y="2105025"/>
            <a:ext cx="7886700" cy="3381375"/>
          </a:xfrm>
          <a:prstGeom prst="rect">
            <a:avLst/>
          </a:prstGeom>
        </p:spPr>
      </p:pic>
    </p:spTree>
    <p:extLst>
      <p:ext uri="{BB962C8B-B14F-4D97-AF65-F5344CB8AC3E}">
        <p14:creationId xmlns:p14="http://schemas.microsoft.com/office/powerpoint/2010/main" val="857642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9316E-39A6-A066-46B4-BC0BB93A3B7F}"/>
              </a:ext>
            </a:extLst>
          </p:cNvPr>
          <p:cNvSpPr>
            <a:spLocks noGrp="1"/>
          </p:cNvSpPr>
          <p:nvPr>
            <p:ph type="title"/>
          </p:nvPr>
        </p:nvSpPr>
        <p:spPr>
          <a:xfrm>
            <a:off x="1524000" y="457200"/>
            <a:ext cx="9499092" cy="430887"/>
          </a:xfrm>
        </p:spPr>
        <p:txBody>
          <a:bodyPr/>
          <a:lstStyle/>
          <a:p>
            <a:r>
              <a:rPr lang="en-IN" sz="2800" dirty="0"/>
              <a:t>How it works?</a:t>
            </a:r>
          </a:p>
        </p:txBody>
      </p:sp>
      <p:pic>
        <p:nvPicPr>
          <p:cNvPr id="7" name="Picture 6">
            <a:extLst>
              <a:ext uri="{FF2B5EF4-FFF2-40B4-BE49-F238E27FC236}">
                <a16:creationId xmlns:a16="http://schemas.microsoft.com/office/drawing/2014/main" id="{42F6D785-9D02-6FD9-691A-DC4033B2F722}"/>
              </a:ext>
            </a:extLst>
          </p:cNvPr>
          <p:cNvPicPr>
            <a:picLocks noChangeAspect="1"/>
          </p:cNvPicPr>
          <p:nvPr/>
        </p:nvPicPr>
        <p:blipFill>
          <a:blip r:embed="rId3"/>
          <a:stretch>
            <a:fillRect/>
          </a:stretch>
        </p:blipFill>
        <p:spPr>
          <a:xfrm>
            <a:off x="3131128" y="1828800"/>
            <a:ext cx="6760998" cy="2754480"/>
          </a:xfrm>
          <a:prstGeom prst="rect">
            <a:avLst/>
          </a:prstGeom>
        </p:spPr>
      </p:pic>
    </p:spTree>
    <p:extLst>
      <p:ext uri="{BB962C8B-B14F-4D97-AF65-F5344CB8AC3E}">
        <p14:creationId xmlns:p14="http://schemas.microsoft.com/office/powerpoint/2010/main" val="2143410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44D40-3382-CB5E-7246-05D75E176798}"/>
              </a:ext>
            </a:extLst>
          </p:cNvPr>
          <p:cNvSpPr>
            <a:spLocks noGrp="1"/>
          </p:cNvSpPr>
          <p:nvPr>
            <p:ph type="title"/>
          </p:nvPr>
        </p:nvSpPr>
        <p:spPr>
          <a:xfrm>
            <a:off x="1524000" y="533400"/>
            <a:ext cx="9499092" cy="430887"/>
          </a:xfrm>
        </p:spPr>
        <p:txBody>
          <a:bodyPr/>
          <a:lstStyle/>
          <a:p>
            <a:r>
              <a:rPr lang="en-IN" sz="2800" dirty="0"/>
              <a:t>Impact</a:t>
            </a:r>
          </a:p>
        </p:txBody>
      </p:sp>
      <p:sp>
        <p:nvSpPr>
          <p:cNvPr id="4" name="TextBox 3">
            <a:extLst>
              <a:ext uri="{FF2B5EF4-FFF2-40B4-BE49-F238E27FC236}">
                <a16:creationId xmlns:a16="http://schemas.microsoft.com/office/drawing/2014/main" id="{DBEF0DAD-9694-D5EB-F7D6-875D5845F653}"/>
              </a:ext>
            </a:extLst>
          </p:cNvPr>
          <p:cNvSpPr txBox="1"/>
          <p:nvPr/>
        </p:nvSpPr>
        <p:spPr>
          <a:xfrm>
            <a:off x="2362200" y="3048000"/>
            <a:ext cx="3352800" cy="1477328"/>
          </a:xfrm>
          <a:prstGeom prst="rect">
            <a:avLst/>
          </a:prstGeom>
          <a:noFill/>
        </p:spPr>
        <p:txBody>
          <a:bodyPr wrap="square" rtlCol="0">
            <a:spAutoFit/>
          </a:bodyPr>
          <a:lstStyle/>
          <a:p>
            <a:r>
              <a:rPr lang="en-IN" dirty="0">
                <a:solidFill>
                  <a:schemeClr val="bg1"/>
                </a:solidFill>
              </a:rPr>
              <a:t>Borderline Impact:</a:t>
            </a:r>
          </a:p>
          <a:p>
            <a:r>
              <a:rPr lang="en-US" dirty="0">
                <a:solidFill>
                  <a:schemeClr val="bg1"/>
                </a:solidFill>
              </a:rPr>
              <a:t>Beyond data exchange. It reshapes how weather data is valued, accessed, and used across sectors.</a:t>
            </a:r>
            <a:endParaRPr lang="en-IN" dirty="0">
              <a:solidFill>
                <a:schemeClr val="bg1"/>
              </a:solidFill>
            </a:endParaRPr>
          </a:p>
        </p:txBody>
      </p:sp>
      <p:pic>
        <p:nvPicPr>
          <p:cNvPr id="7" name="Picture 6">
            <a:extLst>
              <a:ext uri="{FF2B5EF4-FFF2-40B4-BE49-F238E27FC236}">
                <a16:creationId xmlns:a16="http://schemas.microsoft.com/office/drawing/2014/main" id="{6EDB5877-DBD1-0281-031F-35AF733D97EA}"/>
              </a:ext>
            </a:extLst>
          </p:cNvPr>
          <p:cNvPicPr>
            <a:picLocks noChangeAspect="1"/>
          </p:cNvPicPr>
          <p:nvPr/>
        </p:nvPicPr>
        <p:blipFill>
          <a:blip r:embed="rId3"/>
          <a:stretch>
            <a:fillRect/>
          </a:stretch>
        </p:blipFill>
        <p:spPr>
          <a:xfrm>
            <a:off x="2286000" y="1600200"/>
            <a:ext cx="8535591" cy="4048690"/>
          </a:xfrm>
          <a:prstGeom prst="rect">
            <a:avLst/>
          </a:prstGeom>
        </p:spPr>
      </p:pic>
    </p:spTree>
    <p:extLst>
      <p:ext uri="{BB962C8B-B14F-4D97-AF65-F5344CB8AC3E}">
        <p14:creationId xmlns:p14="http://schemas.microsoft.com/office/powerpoint/2010/main" val="3363667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525" y="0"/>
            <a:ext cx="12211050" cy="6867525"/>
            <a:chOff x="-9525" y="0"/>
            <a:chExt cx="12211050" cy="6867525"/>
          </a:xfrm>
        </p:grpSpPr>
        <p:pic>
          <p:nvPicPr>
            <p:cNvPr id="3" name="object 3"/>
            <p:cNvPicPr/>
            <p:nvPr/>
          </p:nvPicPr>
          <p:blipFill>
            <a:blip r:embed="rId2" cstate="print"/>
            <a:stretch>
              <a:fillRect/>
            </a:stretch>
          </p:blipFill>
          <p:spPr>
            <a:xfrm>
              <a:off x="0" y="0"/>
              <a:ext cx="1162049" cy="6353175"/>
            </a:xfrm>
            <a:prstGeom prst="rect">
              <a:avLst/>
            </a:prstGeom>
          </p:spPr>
        </p:pic>
        <p:sp>
          <p:nvSpPr>
            <p:cNvPr id="4" name="object 4"/>
            <p:cNvSpPr/>
            <p:nvPr/>
          </p:nvSpPr>
          <p:spPr>
            <a:xfrm>
              <a:off x="0" y="6353175"/>
              <a:ext cx="12192000" cy="504825"/>
            </a:xfrm>
            <a:custGeom>
              <a:avLst/>
              <a:gdLst/>
              <a:ahLst/>
              <a:cxnLst/>
              <a:rect l="l" t="t" r="r" b="b"/>
              <a:pathLst>
                <a:path w="12192000" h="504825">
                  <a:moveTo>
                    <a:pt x="12192000" y="0"/>
                  </a:moveTo>
                  <a:lnTo>
                    <a:pt x="0" y="0"/>
                  </a:lnTo>
                  <a:lnTo>
                    <a:pt x="0" y="504825"/>
                  </a:lnTo>
                  <a:lnTo>
                    <a:pt x="12192000" y="504825"/>
                  </a:lnTo>
                  <a:lnTo>
                    <a:pt x="12192000" y="0"/>
                  </a:lnTo>
                  <a:close/>
                </a:path>
              </a:pathLst>
            </a:custGeom>
            <a:solidFill>
              <a:srgbClr val="173E31"/>
            </a:solidFill>
          </p:spPr>
          <p:txBody>
            <a:bodyPr wrap="square" lIns="0" tIns="0" rIns="0" bIns="0" rtlCol="0"/>
            <a:lstStyle/>
            <a:p>
              <a:endParaRPr/>
            </a:p>
          </p:txBody>
        </p:sp>
        <p:sp>
          <p:nvSpPr>
            <p:cNvPr id="5" name="object 5"/>
            <p:cNvSpPr/>
            <p:nvPr/>
          </p:nvSpPr>
          <p:spPr>
            <a:xfrm>
              <a:off x="0" y="6353175"/>
              <a:ext cx="12192000" cy="504825"/>
            </a:xfrm>
            <a:custGeom>
              <a:avLst/>
              <a:gdLst/>
              <a:ahLst/>
              <a:cxnLst/>
              <a:rect l="l" t="t" r="r" b="b"/>
              <a:pathLst>
                <a:path w="12192000" h="504825">
                  <a:moveTo>
                    <a:pt x="0" y="504825"/>
                  </a:moveTo>
                  <a:lnTo>
                    <a:pt x="12192000" y="504825"/>
                  </a:lnTo>
                  <a:lnTo>
                    <a:pt x="12192000" y="0"/>
                  </a:lnTo>
                  <a:lnTo>
                    <a:pt x="0" y="0"/>
                  </a:lnTo>
                  <a:lnTo>
                    <a:pt x="0" y="504825"/>
                  </a:lnTo>
                  <a:close/>
                </a:path>
              </a:pathLst>
            </a:custGeom>
            <a:ln w="19050">
              <a:solidFill>
                <a:srgbClr val="042333"/>
              </a:solidFill>
            </a:ln>
          </p:spPr>
          <p:txBody>
            <a:bodyPr wrap="square" lIns="0" tIns="0" rIns="0" bIns="0" rtlCol="0"/>
            <a:lstStyle/>
            <a:p>
              <a:endParaRPr/>
            </a:p>
          </p:txBody>
        </p:sp>
      </p:grpSp>
      <p:sp>
        <p:nvSpPr>
          <p:cNvPr id="6" name="object 6"/>
          <p:cNvSpPr txBox="1">
            <a:spLocks noGrp="1"/>
          </p:cNvSpPr>
          <p:nvPr>
            <p:ph type="title"/>
          </p:nvPr>
        </p:nvSpPr>
        <p:spPr>
          <a:xfrm>
            <a:off x="1549716" y="333884"/>
            <a:ext cx="9499092" cy="447558"/>
          </a:xfrm>
          <a:prstGeom prst="rect">
            <a:avLst/>
          </a:prstGeom>
        </p:spPr>
        <p:txBody>
          <a:bodyPr vert="horz" wrap="square" lIns="0" tIns="16510" rIns="0" bIns="0" rtlCol="0">
            <a:spAutoFit/>
          </a:bodyPr>
          <a:lstStyle/>
          <a:p>
            <a:pPr marL="12700">
              <a:lnSpc>
                <a:spcPct val="100000"/>
              </a:lnSpc>
              <a:spcBef>
                <a:spcPts val="130"/>
              </a:spcBef>
            </a:pPr>
            <a:r>
              <a:rPr lang="en-IN" sz="2800" spc="-95" dirty="0"/>
              <a:t>Why us?</a:t>
            </a:r>
            <a:endParaRPr sz="2800" spc="-95" dirty="0"/>
          </a:p>
        </p:txBody>
      </p:sp>
      <p:sp>
        <p:nvSpPr>
          <p:cNvPr id="8" name="object 8"/>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Smart</a:t>
            </a:r>
            <a:r>
              <a:rPr spc="-25" dirty="0"/>
              <a:t> </a:t>
            </a:r>
            <a:r>
              <a:rPr spc="-10" dirty="0"/>
              <a:t>Farming</a:t>
            </a:r>
            <a:r>
              <a:rPr spc="-35" dirty="0"/>
              <a:t> </a:t>
            </a:r>
            <a:r>
              <a:rPr dirty="0"/>
              <a:t>Hackathon</a:t>
            </a:r>
            <a:r>
              <a:rPr spc="-60" dirty="0"/>
              <a:t> </a:t>
            </a:r>
            <a:r>
              <a:rPr spc="-20" dirty="0"/>
              <a:t>2025</a:t>
            </a:r>
          </a:p>
        </p:txBody>
      </p:sp>
      <p:sp>
        <p:nvSpPr>
          <p:cNvPr id="9" name="TextBox 8">
            <a:extLst>
              <a:ext uri="{FF2B5EF4-FFF2-40B4-BE49-F238E27FC236}">
                <a16:creationId xmlns:a16="http://schemas.microsoft.com/office/drawing/2014/main" id="{79B17F8F-F002-39B1-5074-CCCFB4008902}"/>
              </a:ext>
            </a:extLst>
          </p:cNvPr>
          <p:cNvSpPr txBox="1"/>
          <p:nvPr/>
        </p:nvSpPr>
        <p:spPr>
          <a:xfrm>
            <a:off x="1981200" y="1295400"/>
            <a:ext cx="8915400" cy="646331"/>
          </a:xfrm>
          <a:prstGeom prst="rect">
            <a:avLst/>
          </a:prstGeom>
          <a:noFill/>
        </p:spPr>
        <p:txBody>
          <a:bodyPr wrap="square" rtlCol="0">
            <a:spAutoFit/>
          </a:bodyPr>
          <a:lstStyle/>
          <a:p>
            <a:endParaRPr lang="en-IN" dirty="0"/>
          </a:p>
          <a:p>
            <a:r>
              <a:rPr lang="en-IN" dirty="0"/>
              <a:t>    </a:t>
            </a:r>
          </a:p>
        </p:txBody>
      </p:sp>
      <p:pic>
        <p:nvPicPr>
          <p:cNvPr id="11" name="Picture 10">
            <a:extLst>
              <a:ext uri="{FF2B5EF4-FFF2-40B4-BE49-F238E27FC236}">
                <a16:creationId xmlns:a16="http://schemas.microsoft.com/office/drawing/2014/main" id="{839EA7AE-F814-2F04-C12A-ED17FF37E0DD}"/>
              </a:ext>
            </a:extLst>
          </p:cNvPr>
          <p:cNvPicPr>
            <a:picLocks noChangeAspect="1"/>
          </p:cNvPicPr>
          <p:nvPr/>
        </p:nvPicPr>
        <p:blipFill>
          <a:blip r:embed="rId3"/>
          <a:stretch>
            <a:fillRect/>
          </a:stretch>
        </p:blipFill>
        <p:spPr>
          <a:xfrm>
            <a:off x="1717548" y="1022383"/>
            <a:ext cx="9655962" cy="2406617"/>
          </a:xfrm>
          <a:prstGeom prst="rect">
            <a:avLst/>
          </a:prstGeom>
        </p:spPr>
      </p:pic>
      <p:sp>
        <p:nvSpPr>
          <p:cNvPr id="13" name="TextBox 12">
            <a:extLst>
              <a:ext uri="{FF2B5EF4-FFF2-40B4-BE49-F238E27FC236}">
                <a16:creationId xmlns:a16="http://schemas.microsoft.com/office/drawing/2014/main" id="{E6C019A8-D624-FAAD-69BA-049DCF1C8B97}"/>
              </a:ext>
            </a:extLst>
          </p:cNvPr>
          <p:cNvSpPr txBox="1"/>
          <p:nvPr/>
        </p:nvSpPr>
        <p:spPr>
          <a:xfrm>
            <a:off x="1714500" y="3429000"/>
            <a:ext cx="9448800" cy="4247317"/>
          </a:xfrm>
          <a:prstGeom prst="rect">
            <a:avLst/>
          </a:prstGeom>
          <a:noFill/>
        </p:spPr>
        <p:txBody>
          <a:bodyPr wrap="square" rtlCol="0">
            <a:spAutoFit/>
          </a:bodyPr>
          <a:lstStyle/>
          <a:p>
            <a:r>
              <a:rPr lang="en-IN" dirty="0"/>
              <a:t>For Providers (Farmers)</a:t>
            </a:r>
          </a:p>
          <a:p>
            <a:pPr marL="285750" indent="-285750">
              <a:buFont typeface="Arial" panose="020B0604020202020204" pitchFamily="34" charset="0"/>
              <a:buChar char="•"/>
            </a:pPr>
            <a:r>
              <a:rPr lang="en-IN" dirty="0"/>
              <a:t>Tokens redeemable: cash or products(seeds, fertilizer, equipment).</a:t>
            </a:r>
          </a:p>
          <a:p>
            <a:pPr marL="285750" indent="-285750">
              <a:buFont typeface="Arial" panose="020B0604020202020204" pitchFamily="34" charset="0"/>
              <a:buChar char="•"/>
            </a:pPr>
            <a:r>
              <a:rPr lang="en-IN" dirty="0"/>
              <a:t>Discounted access to farm forecasts.</a:t>
            </a:r>
          </a:p>
          <a:p>
            <a:pPr marL="285750" indent="-285750">
              <a:buFont typeface="Arial" panose="020B0604020202020204" pitchFamily="34" charset="0"/>
              <a:buChar char="•"/>
            </a:pPr>
            <a:r>
              <a:rPr lang="en-IN" dirty="0"/>
              <a:t>Trust scores unlock micro-financing.</a:t>
            </a:r>
          </a:p>
          <a:p>
            <a:endParaRPr lang="en-IN" dirty="0"/>
          </a:p>
          <a:p>
            <a:r>
              <a:rPr lang="en-IN" dirty="0"/>
              <a:t>For Users(Consumers)</a:t>
            </a:r>
          </a:p>
          <a:p>
            <a:pPr marL="285750" indent="-285750">
              <a:buFont typeface="Arial" panose="020B0604020202020204" pitchFamily="34" charset="0"/>
              <a:buChar char="•"/>
            </a:pPr>
            <a:r>
              <a:rPr lang="en-IN" dirty="0"/>
              <a:t>Flexible Pricing</a:t>
            </a:r>
          </a:p>
          <a:p>
            <a:pPr marL="285750" indent="-285750">
              <a:buFont typeface="Arial" panose="020B0604020202020204" pitchFamily="34" charset="0"/>
              <a:buChar char="•"/>
            </a:pPr>
            <a:r>
              <a:rPr lang="en-IN" dirty="0"/>
              <a:t>Simplified integration.</a:t>
            </a:r>
          </a:p>
          <a:p>
            <a:pPr marL="285750" indent="-285750">
              <a:buFont typeface="Arial" panose="020B0604020202020204" pitchFamily="34" charset="0"/>
              <a:buChar char="•"/>
            </a:pPr>
            <a:r>
              <a:rPr lang="en-IN" dirty="0"/>
              <a:t>Ground-truth data.</a:t>
            </a:r>
          </a:p>
          <a:p>
            <a:pPr marL="285750" indent="-285750">
              <a:buFont typeface="Arial" panose="020B0604020202020204" pitchFamily="34" charset="0"/>
              <a:buChar char="•"/>
            </a:pPr>
            <a:r>
              <a:rPr lang="en-IN" dirty="0"/>
              <a:t>Flexible Data packages.</a:t>
            </a:r>
          </a:p>
          <a:p>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342900" indent="-34290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59F874D-F909-5ED7-A5FD-59DD8B21878B}"/>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7EB3854C-806F-48B4-4D2D-4EAF76E35461}"/>
              </a:ext>
            </a:extLst>
          </p:cNvPr>
          <p:cNvGrpSpPr/>
          <p:nvPr/>
        </p:nvGrpSpPr>
        <p:grpSpPr>
          <a:xfrm>
            <a:off x="-9525" y="0"/>
            <a:ext cx="12211050" cy="6867525"/>
            <a:chOff x="-9525" y="0"/>
            <a:chExt cx="12211050" cy="6867525"/>
          </a:xfrm>
        </p:grpSpPr>
        <p:pic>
          <p:nvPicPr>
            <p:cNvPr id="3" name="object 3">
              <a:extLst>
                <a:ext uri="{FF2B5EF4-FFF2-40B4-BE49-F238E27FC236}">
                  <a16:creationId xmlns:a16="http://schemas.microsoft.com/office/drawing/2014/main" id="{F32397EC-52FD-32D3-B4F9-6407676B149C}"/>
                </a:ext>
              </a:extLst>
            </p:cNvPr>
            <p:cNvPicPr/>
            <p:nvPr/>
          </p:nvPicPr>
          <p:blipFill>
            <a:blip r:embed="rId2" cstate="print"/>
            <a:stretch>
              <a:fillRect/>
            </a:stretch>
          </p:blipFill>
          <p:spPr>
            <a:xfrm>
              <a:off x="0" y="0"/>
              <a:ext cx="1162049" cy="6353175"/>
            </a:xfrm>
            <a:prstGeom prst="rect">
              <a:avLst/>
            </a:prstGeom>
          </p:spPr>
        </p:pic>
        <p:sp>
          <p:nvSpPr>
            <p:cNvPr id="4" name="object 4">
              <a:extLst>
                <a:ext uri="{FF2B5EF4-FFF2-40B4-BE49-F238E27FC236}">
                  <a16:creationId xmlns:a16="http://schemas.microsoft.com/office/drawing/2014/main" id="{F823C23C-D779-A28A-6B4D-217897721680}"/>
                </a:ext>
              </a:extLst>
            </p:cNvPr>
            <p:cNvSpPr/>
            <p:nvPr/>
          </p:nvSpPr>
          <p:spPr>
            <a:xfrm>
              <a:off x="0" y="6353175"/>
              <a:ext cx="12192000" cy="504825"/>
            </a:xfrm>
            <a:custGeom>
              <a:avLst/>
              <a:gdLst/>
              <a:ahLst/>
              <a:cxnLst/>
              <a:rect l="l" t="t" r="r" b="b"/>
              <a:pathLst>
                <a:path w="12192000" h="504825">
                  <a:moveTo>
                    <a:pt x="12192000" y="0"/>
                  </a:moveTo>
                  <a:lnTo>
                    <a:pt x="0" y="0"/>
                  </a:lnTo>
                  <a:lnTo>
                    <a:pt x="0" y="504825"/>
                  </a:lnTo>
                  <a:lnTo>
                    <a:pt x="12192000" y="504825"/>
                  </a:lnTo>
                  <a:lnTo>
                    <a:pt x="12192000" y="0"/>
                  </a:lnTo>
                  <a:close/>
                </a:path>
              </a:pathLst>
            </a:custGeom>
            <a:solidFill>
              <a:srgbClr val="173E31"/>
            </a:solidFill>
          </p:spPr>
          <p:txBody>
            <a:bodyPr wrap="square" lIns="0" tIns="0" rIns="0" bIns="0" rtlCol="0"/>
            <a:lstStyle/>
            <a:p>
              <a:endParaRPr/>
            </a:p>
          </p:txBody>
        </p:sp>
        <p:sp>
          <p:nvSpPr>
            <p:cNvPr id="5" name="object 5">
              <a:extLst>
                <a:ext uri="{FF2B5EF4-FFF2-40B4-BE49-F238E27FC236}">
                  <a16:creationId xmlns:a16="http://schemas.microsoft.com/office/drawing/2014/main" id="{B9E9A1B2-612F-2998-9B99-2B422DA1555F}"/>
                </a:ext>
              </a:extLst>
            </p:cNvPr>
            <p:cNvSpPr/>
            <p:nvPr/>
          </p:nvSpPr>
          <p:spPr>
            <a:xfrm>
              <a:off x="0" y="6353175"/>
              <a:ext cx="12192000" cy="504825"/>
            </a:xfrm>
            <a:custGeom>
              <a:avLst/>
              <a:gdLst/>
              <a:ahLst/>
              <a:cxnLst/>
              <a:rect l="l" t="t" r="r" b="b"/>
              <a:pathLst>
                <a:path w="12192000" h="504825">
                  <a:moveTo>
                    <a:pt x="0" y="504825"/>
                  </a:moveTo>
                  <a:lnTo>
                    <a:pt x="12192000" y="504825"/>
                  </a:lnTo>
                  <a:lnTo>
                    <a:pt x="12192000" y="0"/>
                  </a:lnTo>
                  <a:lnTo>
                    <a:pt x="0" y="0"/>
                  </a:lnTo>
                  <a:lnTo>
                    <a:pt x="0" y="504825"/>
                  </a:lnTo>
                  <a:close/>
                </a:path>
              </a:pathLst>
            </a:custGeom>
            <a:ln w="19050">
              <a:solidFill>
                <a:srgbClr val="042333"/>
              </a:solidFill>
            </a:ln>
          </p:spPr>
          <p:txBody>
            <a:bodyPr wrap="square" lIns="0" tIns="0" rIns="0" bIns="0" rtlCol="0"/>
            <a:lstStyle/>
            <a:p>
              <a:endParaRPr/>
            </a:p>
          </p:txBody>
        </p:sp>
      </p:grpSp>
      <p:sp>
        <p:nvSpPr>
          <p:cNvPr id="6" name="object 6">
            <a:extLst>
              <a:ext uri="{FF2B5EF4-FFF2-40B4-BE49-F238E27FC236}">
                <a16:creationId xmlns:a16="http://schemas.microsoft.com/office/drawing/2014/main" id="{3D7AA08B-952F-3977-4CA8-DD7F417BB658}"/>
              </a:ext>
            </a:extLst>
          </p:cNvPr>
          <p:cNvSpPr txBox="1">
            <a:spLocks noGrp="1"/>
          </p:cNvSpPr>
          <p:nvPr>
            <p:ph type="title"/>
          </p:nvPr>
        </p:nvSpPr>
        <p:spPr>
          <a:xfrm>
            <a:off x="1549716" y="2993634"/>
            <a:ext cx="9499092" cy="755335"/>
          </a:xfrm>
          <a:prstGeom prst="rect">
            <a:avLst/>
          </a:prstGeom>
        </p:spPr>
        <p:txBody>
          <a:bodyPr vert="horz" wrap="square" lIns="0" tIns="16510" rIns="0" bIns="0" rtlCol="0">
            <a:spAutoFit/>
          </a:bodyPr>
          <a:lstStyle/>
          <a:p>
            <a:pPr marL="12700">
              <a:lnSpc>
                <a:spcPct val="100000"/>
              </a:lnSpc>
              <a:spcBef>
                <a:spcPts val="130"/>
              </a:spcBef>
            </a:pPr>
            <a:r>
              <a:rPr lang="en-IN" sz="4800" spc="-95" dirty="0"/>
              <a:t>Thank you </a:t>
            </a:r>
            <a:endParaRPr sz="4800" spc="-95" dirty="0"/>
          </a:p>
        </p:txBody>
      </p:sp>
      <p:sp>
        <p:nvSpPr>
          <p:cNvPr id="8" name="object 8">
            <a:extLst>
              <a:ext uri="{FF2B5EF4-FFF2-40B4-BE49-F238E27FC236}">
                <a16:creationId xmlns:a16="http://schemas.microsoft.com/office/drawing/2014/main" id="{F4440521-E73F-D5FA-A7C2-56BA873CFC3C}"/>
              </a:ext>
            </a:extLst>
          </p:cNvPr>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Smart</a:t>
            </a:r>
            <a:r>
              <a:rPr spc="-25" dirty="0"/>
              <a:t> </a:t>
            </a:r>
            <a:r>
              <a:rPr spc="-10" dirty="0"/>
              <a:t>Farming</a:t>
            </a:r>
            <a:r>
              <a:rPr spc="-35" dirty="0"/>
              <a:t> </a:t>
            </a:r>
            <a:r>
              <a:rPr dirty="0"/>
              <a:t>Hackathon</a:t>
            </a:r>
            <a:r>
              <a:rPr spc="-60" dirty="0"/>
              <a:t> </a:t>
            </a:r>
            <a:r>
              <a:rPr spc="-20" dirty="0"/>
              <a:t>2025</a:t>
            </a:r>
          </a:p>
        </p:txBody>
      </p:sp>
      <p:sp>
        <p:nvSpPr>
          <p:cNvPr id="9" name="TextBox 8">
            <a:extLst>
              <a:ext uri="{FF2B5EF4-FFF2-40B4-BE49-F238E27FC236}">
                <a16:creationId xmlns:a16="http://schemas.microsoft.com/office/drawing/2014/main" id="{4CBCBE62-E1DE-AC17-7A68-2A6586AE7959}"/>
              </a:ext>
            </a:extLst>
          </p:cNvPr>
          <p:cNvSpPr txBox="1"/>
          <p:nvPr/>
        </p:nvSpPr>
        <p:spPr>
          <a:xfrm>
            <a:off x="1981200" y="1295400"/>
            <a:ext cx="8915400" cy="646331"/>
          </a:xfrm>
          <a:prstGeom prst="rect">
            <a:avLst/>
          </a:prstGeom>
          <a:noFill/>
        </p:spPr>
        <p:txBody>
          <a:bodyPr wrap="square" rtlCol="0">
            <a:spAutoFit/>
          </a:bodyPr>
          <a:lstStyle/>
          <a:p>
            <a:endParaRPr lang="en-IN" dirty="0"/>
          </a:p>
          <a:p>
            <a:r>
              <a:rPr lang="en-IN" dirty="0"/>
              <a:t>    </a:t>
            </a:r>
          </a:p>
        </p:txBody>
      </p:sp>
    </p:spTree>
    <p:extLst>
      <p:ext uri="{BB962C8B-B14F-4D97-AF65-F5344CB8AC3E}">
        <p14:creationId xmlns:p14="http://schemas.microsoft.com/office/powerpoint/2010/main" val="3648824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3B05E4E16C44A419899AE51C703A258" ma:contentTypeVersion="13" ma:contentTypeDescription="Ein neues Dokument erstellen." ma:contentTypeScope="" ma:versionID="6abd71bee2b2ea6be86cdeba10a20b24">
  <xsd:schema xmlns:xsd="http://www.w3.org/2001/XMLSchema" xmlns:xs="http://www.w3.org/2001/XMLSchema" xmlns:p="http://schemas.microsoft.com/office/2006/metadata/properties" xmlns:ns2="4585495d-1e65-4745-92e1-6a1677e8c6e3" xmlns:ns3="02a07173-652c-41dd-b0b2-15cfa4bda98d" targetNamespace="http://schemas.microsoft.com/office/2006/metadata/properties" ma:root="true" ma:fieldsID="31e13c34ff6d03c9e95e2d9de3a8d3b8" ns2:_="" ns3:_="">
    <xsd:import namespace="4585495d-1e65-4745-92e1-6a1677e8c6e3"/>
    <xsd:import namespace="02a07173-652c-41dd-b0b2-15cfa4bda9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85495d-1e65-4745-92e1-6a1677e8c6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Location" ma:index="13" nillable="true" ma:displayName="Location" ma:indexed="true"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Bildmarkierungen" ma:readOnly="false" ma:fieldId="{5cf76f15-5ced-4ddc-b409-7134ff3c332f}" ma:taxonomyMulti="true" ma:sspId="87877319-e47f-417e-bb3c-18e630a7aa6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2a07173-652c-41dd-b0b2-15cfa4bda98d"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e25815a7-82c7-4234-aeed-84605e0fb965}" ma:internalName="TaxCatchAll" ma:showField="CatchAllData" ma:web="02a07173-652c-41dd-b0b2-15cfa4bda9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02a07173-652c-41dd-b0b2-15cfa4bda98d" xsi:nil="true"/>
    <lcf76f155ced4ddcb4097134ff3c332f xmlns="4585495d-1e65-4745-92e1-6a1677e8c6e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A5326D7-4E91-41DA-A95E-1E4474EFF208}"/>
</file>

<file path=customXml/itemProps2.xml><?xml version="1.0" encoding="utf-8"?>
<ds:datastoreItem xmlns:ds="http://schemas.openxmlformats.org/officeDocument/2006/customXml" ds:itemID="{04B5AA0A-BE55-48AC-862C-C26CEA0F013D}"/>
</file>

<file path=customXml/itemProps3.xml><?xml version="1.0" encoding="utf-8"?>
<ds:datastoreItem xmlns:ds="http://schemas.openxmlformats.org/officeDocument/2006/customXml" ds:itemID="{CC0FB322-4E23-429F-9518-05A340463AA5}"/>
</file>

<file path=docProps/app.xml><?xml version="1.0" encoding="utf-8"?>
<Properties xmlns="http://schemas.openxmlformats.org/officeDocument/2006/extended-properties" xmlns:vt="http://schemas.openxmlformats.org/officeDocument/2006/docPropsVTypes">
  <Template/>
  <TotalTime>994</TotalTime>
  <Words>280</Words>
  <Application>Microsoft Office PowerPoint</Application>
  <PresentationFormat>Widescreen</PresentationFormat>
  <Paragraphs>50</Paragraphs>
  <Slides>7</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Tahoma</vt:lpstr>
      <vt:lpstr>Office Theme</vt:lpstr>
      <vt:lpstr>WeatherMesh  Empowering farmers with data, rewards &amp; insights  </vt:lpstr>
      <vt:lpstr>The Problem </vt:lpstr>
      <vt:lpstr>Solution</vt:lpstr>
      <vt:lpstr>How it works?</vt:lpstr>
      <vt:lpstr>Impact</vt:lpstr>
      <vt:lpstr>Why us?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Bhavana Ramesh</dc:creator>
  <cp:lastModifiedBy>Bhavana Ramesh</cp:lastModifiedBy>
  <cp:revision>6</cp:revision>
  <dcterms:created xsi:type="dcterms:W3CDTF">2025-09-03T16:46:15Z</dcterms:created>
  <dcterms:modified xsi:type="dcterms:W3CDTF">2025-09-04T09:43:33Z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2025-09-03T00:00:00Z</vt:filetime>
  </property>
  <property fmtid="{D5CDD505-2E9C-101B-9397-08002B2CF9AE}" pid="3" name="LastSaved">
    <vt:filetime>2025-09-03T00:00:00Z</vt:filetime>
  </property>
  <property fmtid="{D5CDD505-2E9C-101B-9397-08002B2CF9AE}" pid="4" name="ContentTypeId">
    <vt:lpwstr>0x01010043B05E4E16C44A419899AE51C703A258</vt:lpwstr>
  </property>
</Properties>
</file>